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NN4fe92OfVqYZ6sPVM0+nP1Xu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13BE3F-1782-4022-ABB6-89C072D5A6A6}">
  <a:tblStyle styleId="{F913BE3F-1782-4022-ABB6-89C072D5A6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7a9fca9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a47a9fca9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47a9fca9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a47a9fca9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47a9fca9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a47a9fca9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47a9fca96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a47a9fca96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47a9fca96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a47a9fca96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47a9fca9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a47a9fca9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://react.j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://express.j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node.js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TERRITORIAL</a:t>
            </a: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a47a9fca96_0_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g3a47a9fca96_0_1"/>
          <p:cNvGrpSpPr/>
          <p:nvPr/>
        </p:nvGrpSpPr>
        <p:grpSpPr>
          <a:xfrm>
            <a:off x="4121026" y="1710819"/>
            <a:ext cx="7633553" cy="4350605"/>
            <a:chOff x="0" y="0"/>
            <a:chExt cx="7633553" cy="4350605"/>
          </a:xfrm>
        </p:grpSpPr>
        <p:sp>
          <p:nvSpPr>
            <p:cNvPr id="92" name="Google Shape;92;g3a47a9fca96_0_1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g3a47a9fca96_0_1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Cristal Hinostroza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SCRUM Master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g3a47a9fca96_0_1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g3a47a9fca96_0_1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g3a47a9fca96_0_1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María Saldivia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Product Owner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g3a47a9fca96_0_1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g3a47a9fca96_0_1"/>
            <p:cNvSpPr/>
            <p:nvPr/>
          </p:nvSpPr>
          <p:spPr>
            <a:xfrm>
              <a:off x="0" y="2991005"/>
              <a:ext cx="7633500" cy="13596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g3a47a9fca96_0_1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Cecilia Vera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Team SCRUM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g3a47a9fca96_0_1"/>
            <p:cNvSpPr/>
            <p:nvPr/>
          </p:nvSpPr>
          <p:spPr>
            <a:xfrm>
              <a:off x="135954" y="3126960"/>
              <a:ext cx="1526700" cy="1087500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g3a47a9fca96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“UNIDAD TERRITORIAL”</a:t>
            </a:r>
            <a:endParaRPr/>
          </a:p>
        </p:txBody>
      </p:sp>
      <p:sp>
        <p:nvSpPr>
          <p:cNvPr id="102" name="Google Shape;102;g3a47a9fca96_0_1"/>
          <p:cNvSpPr txBox="1"/>
          <p:nvPr/>
        </p:nvSpPr>
        <p:spPr>
          <a:xfrm>
            <a:off x="238327" y="3058616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g3a47a9fca96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341250" y="1163475"/>
            <a:ext cx="3703200" cy="5457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91199" y="1252875"/>
            <a:ext cx="3486300" cy="51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Cristal Hinostroza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Prototipo inicial de pantallas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módulo Gestión de Vecinos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módulo Proyectos Vecinales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módulo Actividades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Pruebas de seguridad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Corrección de errores detectados en QA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“UNIDAD TERRITORIAL”</a:t>
            </a:r>
            <a:endParaRPr/>
          </a:p>
        </p:txBody>
      </p:sp>
      <p:cxnSp>
        <p:nvCxnSpPr>
          <p:cNvPr id="112" name="Google Shape;11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3" name="Google Shape;113;p2"/>
          <p:cNvSpPr/>
          <p:nvPr/>
        </p:nvSpPr>
        <p:spPr>
          <a:xfrm>
            <a:off x="4210000" y="1163475"/>
            <a:ext cx="3703200" cy="5457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4308150" y="1252875"/>
            <a:ext cx="3407100" cy="51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María Saldivia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Definir alcance y objetivos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Configuración de repositorio y entorno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del esquema BD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Levantamiento detallado de requerimientos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Pruebas y retroalimentación con junta de vecinos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Mantención de la BD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del módulo de Flujo de caja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Ajustes finales y entrega oficial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147550" y="1163475"/>
            <a:ext cx="3703200" cy="5457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8245700" y="1252875"/>
            <a:ext cx="3237900" cy="51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Cecilia Vera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Selección de herramientas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Asignación de roles y  responsabilidades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Implementación de base de datos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Módulo Certificados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Módulo Comunicación y Noticias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Módulo Requerimientos/ Buzón vecinal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228600" algn="just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Pruebas de usabilidad con usuarios simulados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3"/>
          <p:cNvSpPr/>
          <p:nvPr/>
        </p:nvSpPr>
        <p:spPr>
          <a:xfrm>
            <a:off x="793559" y="2149994"/>
            <a:ext cx="4348800" cy="40926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Las juntas de vecinos gestionan trámites de forma manual (papeles, cuadernos, planillas).</a:t>
            </a:r>
            <a:br>
              <a:rPr lang="es-CL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Esto genera desorden, pérdida de información y procesos lentos.</a:t>
            </a:r>
            <a:br>
              <a:rPr lang="es-CL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Los vecinos no cuentan con un espacio digital para realizar solicitudes o informarse.</a:t>
            </a:r>
            <a:br>
              <a:rPr lang="es-CL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La comunicación con la comunidad es limitada y poco centralizada.</a:t>
            </a:r>
            <a:endParaRPr sz="15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Crear Sistema Unidad Territorial, una plataforma web de gestión comunitaria.</a:t>
            </a:r>
            <a:br>
              <a:rPr lang="es-CL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Permite administrar vecinos, certificados, proyectos y pagos recibidos.</a:t>
            </a:r>
            <a:br>
              <a:rPr lang="es-CL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Centraliza la información y facilita trámites desde cualquier dispositivo.</a:t>
            </a:r>
            <a:br>
              <a:rPr lang="es-CL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Mejora la organización interna y la comunicación entre junta y vecinos.</a:t>
            </a:r>
            <a:endParaRPr sz="15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2AC9A71F-5EA4-0F3F-13D9-D81F743BDE84}"/>
              </a:ext>
            </a:extLst>
          </p:cNvPr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0" y="13843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4"/>
          <p:cNvSpPr txBox="1"/>
          <p:nvPr/>
        </p:nvSpPr>
        <p:spPr>
          <a:xfrm>
            <a:off x="1" y="394152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Digitalizar y optimizar la gestión de la Junta de Vecinos Mirador de Volcanes IV mediante una plataforma web que facilite trámites, administración interna y comunicación con la comunidad.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14525" y="4588025"/>
            <a:ext cx="10962900" cy="1719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módulos para gestionar vecinos, certificados, proyectos y pagos.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comunicación con los residentes mediante avisos y noticias digitales.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interfaz accesible para usuarios no técnicos.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Asegurar trazabilidad y orden en los procesos administrativos.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y ajustes para garantizar un sistema funcional y usable.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6296375" y="1285075"/>
            <a:ext cx="5390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/>
          </a:p>
        </p:txBody>
      </p:sp>
      <p:cxnSp>
        <p:nvCxnSpPr>
          <p:cNvPr id="146" name="Google Shape;146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" name="Google Shape;147;p5"/>
          <p:cNvSpPr/>
          <p:nvPr/>
        </p:nvSpPr>
        <p:spPr>
          <a:xfrm>
            <a:off x="588875" y="2223896"/>
            <a:ext cx="5390400" cy="372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020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Digitalización de procesos internos de la junta de vecinos registro de actividades, socios, certificados, finanza básica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Desarrollo y entrega de un sistema web funcional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Módulos incluidos dentro del proyecto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Proceso completo de desarrollo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Mejora de la gestión y comunicación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Seguridad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296375" y="2223751"/>
            <a:ext cx="5390400" cy="372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Alcance limitado a funcionalidades definidas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Sin automatización financiera completa.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Sin integración con sistemas externos municipales o gubernamentales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Dependencia de conexión a internet para su uso.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Seguridad básica en esta versión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s-CL" sz="1600">
                <a:solidFill>
                  <a:schemeClr val="dk1"/>
                </a:solidFill>
              </a:rPr>
              <a:t>Sin soporte post-entrega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88875" y="1285075"/>
            <a:ext cx="5109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del proyecto</a:t>
            </a:r>
            <a:endParaRPr/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429F41EB-3142-F1A0-0043-B73EC2890D58}"/>
              </a:ext>
            </a:extLst>
          </p:cNvPr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8" name="Google Shape;158;p6"/>
          <p:cNvSpPr/>
          <p:nvPr/>
        </p:nvSpPr>
        <p:spPr>
          <a:xfrm>
            <a:off x="614550" y="2840251"/>
            <a:ext cx="10962900" cy="30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desarrollar el sistema "Unidad Territorial" se empleará la metodología ágil SCRUM, que permite un trabajo iterativo y colaborativo mediante ciclos cortos llamados sprints. Esto facilita entregas funcionales frecuentes, retroalimentación continua y adaptación constante a las necesidades reales de una junta de vecinos, especialmente considerando que los usuarios no son técnicos. Las actividades se gestionan con artefactos como el Product Backlog y reuniones periódicas para asegurar planificación y seguimiento efectivos.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33EF77B8-5D19-9E58-595F-B12393049D35}"/>
              </a:ext>
            </a:extLst>
          </p:cNvPr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-11" y="1117331"/>
            <a:ext cx="121920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 (11/08/2025 - 17/11/2025) </a:t>
            </a:r>
            <a:endParaRPr sz="3000" dirty="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67" name="Google Shape;167;p7"/>
          <p:cNvGraphicFramePr/>
          <p:nvPr>
            <p:extLst>
              <p:ext uri="{D42A27DB-BD31-4B8C-83A1-F6EECF244321}">
                <p14:modId xmlns:p14="http://schemas.microsoft.com/office/powerpoint/2010/main" val="1706869901"/>
              </p:ext>
            </p:extLst>
          </p:nvPr>
        </p:nvGraphicFramePr>
        <p:xfrm>
          <a:off x="688671" y="2059292"/>
          <a:ext cx="10814675" cy="4466845"/>
        </p:xfrm>
        <a:graphic>
          <a:graphicData uri="http://schemas.openxmlformats.org/drawingml/2006/table">
            <a:tbl>
              <a:tblPr>
                <a:noFill/>
                <a:tableStyleId>{F913BE3F-1782-4022-ABB6-89C072D5A6A6}</a:tableStyleId>
              </a:tblPr>
              <a:tblGrid>
                <a:gridCol w="589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050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22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3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alcances y objetivos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7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de repositorio y entorno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7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 de roles y  responsabilidades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detallado de requerimientos 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Consolidación de los requerimientos y validación con el cliente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2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del esquema BD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2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la arquitectura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Selección de herramientas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1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inicial de pantallas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con la Junta de vecinos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a47a9fca96_0_4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47a9fca96_0_4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cxnSp>
        <p:nvCxnSpPr>
          <p:cNvPr id="174" name="Google Shape;174;g3a47a9fca96_0_4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75" name="Google Shape;175;g3a47a9fca96_0_48"/>
          <p:cNvGraphicFramePr/>
          <p:nvPr/>
        </p:nvGraphicFramePr>
        <p:xfrm>
          <a:off x="694821" y="1147592"/>
          <a:ext cx="10802375" cy="5389802"/>
        </p:xfrm>
        <a:graphic>
          <a:graphicData uri="http://schemas.openxmlformats.org/drawingml/2006/table">
            <a:tbl>
              <a:tblPr>
                <a:noFill/>
                <a:tableStyleId>{F913BE3F-1782-4022-ABB6-89C072D5A6A6}</a:tableStyleId>
              </a:tblPr>
              <a:tblGrid>
                <a:gridCol w="43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5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6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5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0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1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0650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3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de la Base de Datos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 de la Base de Datos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Gestión de Vecinos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</a:t>
                      </a: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Certificado de Residencia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 Actividades </a:t>
                      </a: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Vecinales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7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Comunicación y Noticias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7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Buzón Vecinal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7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de </a:t>
                      </a: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Administración y seguridad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7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Flujo de Caja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a47a9fca96_0_4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a47a9fca96_0_4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sp>
        <p:nvSpPr>
          <p:cNvPr id="182" name="Google Shape;182;g3a47a9fca96_0_40"/>
          <p:cNvSpPr txBox="1"/>
          <p:nvPr/>
        </p:nvSpPr>
        <p:spPr>
          <a:xfrm>
            <a:off x="1" y="115565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12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g3a47a9fca96_0_4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84" name="Google Shape;184;g3a47a9fca96_0_40"/>
          <p:cNvGraphicFramePr/>
          <p:nvPr>
            <p:extLst>
              <p:ext uri="{D42A27DB-BD31-4B8C-83A1-F6EECF244321}">
                <p14:modId xmlns:p14="http://schemas.microsoft.com/office/powerpoint/2010/main" val="3901360041"/>
              </p:ext>
            </p:extLst>
          </p:nvPr>
        </p:nvGraphicFramePr>
        <p:xfrm>
          <a:off x="695721" y="2092592"/>
          <a:ext cx="10800550" cy="4368174"/>
        </p:xfrm>
        <a:graphic>
          <a:graphicData uri="http://schemas.openxmlformats.org/drawingml/2006/table">
            <a:tbl>
              <a:tblPr>
                <a:noFill/>
                <a:tableStyleId>{F913BE3F-1782-4022-ABB6-89C072D5A6A6}</a:tableStyleId>
              </a:tblPr>
              <a:tblGrid>
                <a:gridCol w="54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050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62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S19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con el cliente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Capacitación a usuarios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lang="es-CL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usabilidad con clientes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y retroalimentación del cliente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seguridad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Corrección de errores detectados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4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Ajustes y entrega final</a:t>
                      </a:r>
                      <a:endParaRPr sz="18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0" y="9576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2" name="Google Shape;192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pic>
        <p:nvPicPr>
          <p:cNvPr id="193" name="Google Shape;193;p8" title="Diagrama de arquitectu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900" y="1803750"/>
            <a:ext cx="8266200" cy="500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200" name="Google Shape;20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pic>
        <p:nvPicPr>
          <p:cNvPr id="202" name="Google Shape;20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87" y="1639405"/>
            <a:ext cx="9437725" cy="48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3a47a9fca96_0_8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a47a9fca96_0_89"/>
          <p:cNvSpPr txBox="1"/>
          <p:nvPr/>
        </p:nvSpPr>
        <p:spPr>
          <a:xfrm>
            <a:off x="0" y="115255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dirty="0"/>
          </a:p>
        </p:txBody>
      </p:sp>
      <p:cxnSp>
        <p:nvCxnSpPr>
          <p:cNvPr id="217" name="Google Shape;217;g3a47a9fca96_0_8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8" name="Google Shape;218;g3a47a9fca96_0_8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sp>
        <p:nvSpPr>
          <p:cNvPr id="219" name="Google Shape;219;g3a47a9fca96_0_89"/>
          <p:cNvSpPr txBox="1"/>
          <p:nvPr/>
        </p:nvSpPr>
        <p:spPr>
          <a:xfrm>
            <a:off x="689688" y="1817415"/>
            <a:ext cx="5542500" cy="29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React.js</a:t>
            </a:r>
            <a:r>
              <a:rPr lang="es-CL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 de JavaScript para construir interfaces de usuario.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todo lo que se ve en la pantalla. Además permite que estos componentes sean interactivos.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crear una </a:t>
            </a:r>
            <a:r>
              <a:rPr lang="es-CL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Page </a:t>
            </a:r>
            <a:r>
              <a:rPr lang="es-CL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r>
              <a:rPr lang="es-CL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(SPA)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Navegación sin que la página recargue por completo.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CSS: 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para dar diseño y estilo a la página web.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a47a9fca96_0_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3187" y="5273700"/>
            <a:ext cx="1218075" cy="1096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a47a9fca96_0_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36702" y="5155326"/>
            <a:ext cx="1218079" cy="120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a47a9fca96_0_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81625" y="5273700"/>
            <a:ext cx="1096275" cy="109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a47a9fca96_0_89"/>
          <p:cNvSpPr txBox="1"/>
          <p:nvPr/>
        </p:nvSpPr>
        <p:spPr>
          <a:xfrm>
            <a:off x="6975481" y="1817415"/>
            <a:ext cx="4179300" cy="29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Vite: 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 de desarrollo </a:t>
            </a:r>
            <a:r>
              <a:rPr lang="es-CL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 da el "</a:t>
            </a:r>
            <a:r>
              <a:rPr lang="es-CL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Refresh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y luego "compila" y optimiza todo nuestro código </a:t>
            </a:r>
            <a:r>
              <a:rPr lang="es-CL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CSS en archivos estáticos que un navegador puede entender.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 cambios al instante.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a47a9fca96_0_10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47a9fca96_0_105"/>
          <p:cNvSpPr txBox="1"/>
          <p:nvPr/>
        </p:nvSpPr>
        <p:spPr>
          <a:xfrm>
            <a:off x="0" y="14086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30" name="Google Shape;230;g3a47a9fca96_0_10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g3a47a9fca96_0_10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pic>
        <p:nvPicPr>
          <p:cNvPr id="232" name="Google Shape;232;g3a47a9fca96_0_105"/>
          <p:cNvPicPr preferRelativeResize="0"/>
          <p:nvPr/>
        </p:nvPicPr>
        <p:blipFill rotWithShape="1">
          <a:blip r:embed="rId4">
            <a:alphaModFix/>
          </a:blip>
          <a:srcRect t="22328" b="12423"/>
          <a:stretch/>
        </p:blipFill>
        <p:spPr>
          <a:xfrm>
            <a:off x="8686532" y="2553200"/>
            <a:ext cx="2542234" cy="82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a47a9fca96_0_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86525" y="4766370"/>
            <a:ext cx="2743756" cy="78393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a47a9fca96_0_105"/>
          <p:cNvSpPr txBox="1"/>
          <p:nvPr/>
        </p:nvSpPr>
        <p:spPr>
          <a:xfrm>
            <a:off x="735475" y="2415125"/>
            <a:ext cx="7574100" cy="3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Node.js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entorno que permite ejecutar código JavaScript </a:t>
            </a:r>
            <a:r>
              <a:rPr lang="es-CL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navegador (en el servidor).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donde corre toda nuestra API. Sin Node.js, no podríamos usar Express.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 permite usar JavaScript en todo el proyecto. Esto simplifica el desarrollo y nos permite compartir lógica si es necesario.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Express.js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framework (un conjunto de herramientas) para Node.js, diseñado para construir APIs.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todas las URLs, recibe las llamadas del frontend y decide qué controlador ejecutar.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estándar de la industria. Nos da control total sobre la lógica de la API.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a47a9fca96_0_6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a47a9fca96_0_62"/>
          <p:cNvSpPr txBox="1"/>
          <p:nvPr/>
        </p:nvSpPr>
        <p:spPr>
          <a:xfrm>
            <a:off x="0" y="14086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41" name="Google Shape;241;g3a47a9fca96_0_6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2" name="Google Shape;242;g3a47a9fca96_0_6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“UNIDAD TERRITORIAL”</a:t>
            </a:r>
            <a:endParaRPr/>
          </a:p>
        </p:txBody>
      </p:sp>
      <p:pic>
        <p:nvPicPr>
          <p:cNvPr id="243" name="Google Shape;243;g3a47a9fca96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12950" y="4645200"/>
            <a:ext cx="1165300" cy="11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a47a9fca96_0_62"/>
          <p:cNvSpPr txBox="1"/>
          <p:nvPr/>
        </p:nvSpPr>
        <p:spPr>
          <a:xfrm>
            <a:off x="711800" y="2568400"/>
            <a:ext cx="10439700" cy="3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SQL Server: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Sistema Gestor de Base de Datos Relacional.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 toda la información del las tablas.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robusto y nos permite garantizar la integridad de los datos. Usamos FOREIGN KEY (para que un movimiento siempre esté ligado a un usuario) y UNIQUE INDEX (para que un vecino no se registre dos veces en el mismo proyecto).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 txBox="1"/>
          <p:nvPr/>
        </p:nvSpPr>
        <p:spPr>
          <a:xfrm>
            <a:off x="762000" y="1138036"/>
            <a:ext cx="3962400" cy="140247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Resultados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obtenidos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Google Shape;257;p12"/>
          <p:cNvSpPr txBox="1"/>
          <p:nvPr/>
        </p:nvSpPr>
        <p:spPr>
          <a:xfrm>
            <a:off x="762000" y="2540506"/>
            <a:ext cx="3962400" cy="3591207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Autofit/>
          </a:bodyPr>
          <a:lstStyle/>
          <a:p>
            <a:pPr lv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CL" sz="1800" kern="12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Los resultados del proyecto han sido positivos y pudimos validar la importancia e impacto que podría generar a nivel municipal este proyecto.</a:t>
            </a:r>
          </a:p>
          <a:p>
            <a:pPr lv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CL" sz="1800" kern="12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Reunión con:</a:t>
            </a:r>
          </a:p>
          <a:p>
            <a:pPr marL="285750"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800" kern="12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Yasna Alvarado Villaroel: Jefa de Gabinete</a:t>
            </a:r>
          </a:p>
          <a:p>
            <a:pPr marL="285750"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800" kern="12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Lorena Muños Vargas: Gestora Territorial</a:t>
            </a:r>
          </a:p>
          <a:p>
            <a:pPr marL="285750" indent="-2286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s-CL" sz="1800" kern="1200" noProof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" algn="just">
              <a:lnSpc>
                <a:spcPct val="90000"/>
              </a:lnSpc>
            </a:pPr>
            <a:r>
              <a:rPr lang="es-CL" sz="1800" kern="1200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Delegación Municipal Mirasol.</a:t>
            </a:r>
            <a:endPara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AB11B05-5E59-5B88-D8DB-0E975DEA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7" y="0"/>
            <a:ext cx="6927273" cy="687653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240AE80-6D32-1DE3-DABE-DF1BA514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4" r="2466" b="6731"/>
          <a:stretch>
            <a:fillRect/>
          </a:stretch>
        </p:blipFill>
        <p:spPr>
          <a:xfrm>
            <a:off x="9147155" y="3543300"/>
            <a:ext cx="2075026" cy="2599083"/>
          </a:xfrm>
          <a:prstGeom prst="rect">
            <a:avLst/>
          </a:prstGeom>
        </p:spPr>
      </p:pic>
      <p:pic>
        <p:nvPicPr>
          <p:cNvPr id="5" name="Imagen 4" descr="Imagen que contiene ventana, azul, tabla, cuarto&#10;&#10;El contenido generado por IA puede ser incorrecto.">
            <a:extLst>
              <a:ext uri="{FF2B5EF4-FFF2-40B4-BE49-F238E27FC236}">
                <a16:creationId xmlns:a16="http://schemas.microsoft.com/office/drawing/2014/main" id="{337E5320-1242-8212-50ED-BA656E9636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0" t="15712" r="6918" b="7285"/>
          <a:stretch>
            <a:fillRect/>
          </a:stretch>
        </p:blipFill>
        <p:spPr>
          <a:xfrm>
            <a:off x="5839384" y="1371600"/>
            <a:ext cx="3037607" cy="3631838"/>
          </a:xfrm>
          <a:prstGeom prst="rect">
            <a:avLst/>
          </a:prstGeom>
        </p:spPr>
      </p:pic>
      <p:pic>
        <p:nvPicPr>
          <p:cNvPr id="7" name="Google Shape;249;p11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73B23A28-A336-1750-1DC5-3D745458B7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711800" y="2568400"/>
            <a:ext cx="10439700" cy="3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Trabajar con clientes reales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Conexión a la base de datos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Enrutado 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con los tiempos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recursos económicos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1222</Words>
  <Application>Microsoft Office PowerPoint</Application>
  <PresentationFormat>Panorámica</PresentationFormat>
  <Paragraphs>259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María Luisa Saldivia Millalonco</cp:lastModifiedBy>
  <cp:revision>3</cp:revision>
  <dcterms:created xsi:type="dcterms:W3CDTF">2023-10-28T21:12:11Z</dcterms:created>
  <dcterms:modified xsi:type="dcterms:W3CDTF">2025-11-17T17:55:55Z</dcterms:modified>
</cp:coreProperties>
</file>