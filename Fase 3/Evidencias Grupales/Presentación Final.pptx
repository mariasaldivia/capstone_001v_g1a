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6" roundtripDataSignature="AMtx7mhNN4fe92OfVqYZ6sPVM0+nP1Xu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13BE3F-1782-4022-ABB6-89C072D5A6A6}">
  <a:tblStyle styleId="{F913BE3F-1782-4022-ABB6-89C072D5A6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a47a9fca9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g3a47a9fca96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47a9fca9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a47a9fca96_0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47a9fca9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a47a9fca96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a47a9fca9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g3a47a9fca96_0_8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47a9fca9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a47a9fca96_0_1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47a9fca96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a47a9fca96_0_6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Relationship Id="rId4" Type="http://schemas.openxmlformats.org/officeDocument/2006/relationships/hyperlink" Target="http://react.js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hyperlink" Target="http://node.js" TargetMode="External"/><Relationship Id="rId7" Type="http://schemas.openxmlformats.org/officeDocument/2006/relationships/hyperlink" Target="http://express.js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UNIDAD TERRITORIAL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g3a47a9fca96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g3a47a9fca96_0_1"/>
          <p:cNvGrpSpPr/>
          <p:nvPr/>
        </p:nvGrpSpPr>
        <p:grpSpPr>
          <a:xfrm>
            <a:off x="4121026" y="1710819"/>
            <a:ext cx="7633553" cy="4350605"/>
            <a:chOff x="0" y="0"/>
            <a:chExt cx="7633553" cy="4350605"/>
          </a:xfrm>
        </p:grpSpPr>
        <p:sp>
          <p:nvSpPr>
            <p:cNvPr id="92" name="Google Shape;92;g3a47a9fca96_0_1"/>
            <p:cNvSpPr/>
            <p:nvPr/>
          </p:nvSpPr>
          <p:spPr>
            <a:xfrm>
              <a:off x="0" y="0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g3a47a9fca96_0_1"/>
            <p:cNvSpPr txBox="1"/>
            <p:nvPr/>
          </p:nvSpPr>
          <p:spPr>
            <a:xfrm>
              <a:off x="1662653" y="0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Cristal Hinostroza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: 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g3a47a9fca96_0_1"/>
            <p:cNvSpPr/>
            <p:nvPr/>
          </p:nvSpPr>
          <p:spPr>
            <a:xfrm>
              <a:off x="135954" y="135954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g3a47a9fca96_0_1"/>
            <p:cNvSpPr/>
            <p:nvPr/>
          </p:nvSpPr>
          <p:spPr>
            <a:xfrm>
              <a:off x="0" y="1495502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g3a47a9fca96_0_1"/>
            <p:cNvSpPr txBox="1"/>
            <p:nvPr/>
          </p:nvSpPr>
          <p:spPr>
            <a:xfrm>
              <a:off x="1662653" y="1495502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María Saldivia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: 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g3a47a9fca96_0_1"/>
            <p:cNvSpPr/>
            <p:nvPr/>
          </p:nvSpPr>
          <p:spPr>
            <a:xfrm>
              <a:off x="135954" y="1631457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g3a47a9fca96_0_1"/>
            <p:cNvSpPr/>
            <p:nvPr/>
          </p:nvSpPr>
          <p:spPr>
            <a:xfrm>
              <a:off x="0" y="2991005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g3a47a9fca96_0_1"/>
            <p:cNvSpPr txBox="1"/>
            <p:nvPr/>
          </p:nvSpPr>
          <p:spPr>
            <a:xfrm>
              <a:off x="1662653" y="2991005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Cecilia Vera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: Team SCRUM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g3a47a9fca96_0_1"/>
            <p:cNvSpPr/>
            <p:nvPr/>
          </p:nvSpPr>
          <p:spPr>
            <a:xfrm>
              <a:off x="135954" y="3126960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" name="Google Shape;101;g3a47a9fca96_0_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“UNIDAD TERRITORIAL”</a:t>
            </a:r>
            <a:endParaRPr/>
          </a:p>
        </p:txBody>
      </p:sp>
      <p:sp>
        <p:nvSpPr>
          <p:cNvPr id="102" name="Google Shape;102;g3a47a9fca96_0_1"/>
          <p:cNvSpPr txBox="1"/>
          <p:nvPr/>
        </p:nvSpPr>
        <p:spPr>
          <a:xfrm>
            <a:off x="238327" y="3058616"/>
            <a:ext cx="36090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g3a47a9fca96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/>
          <p:nvPr/>
        </p:nvSpPr>
        <p:spPr>
          <a:xfrm>
            <a:off x="341250" y="1163475"/>
            <a:ext cx="3703200" cy="5457000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6EA5DA"/>
              </a:gs>
              <a:gs pos="50000">
                <a:srgbClr val="529BDA"/>
              </a:gs>
              <a:gs pos="100000">
                <a:srgbClr val="4188C8"/>
              </a:gs>
            </a:gsLst>
            <a:lin ang="5400000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274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391199" y="1252875"/>
            <a:ext cx="3486300" cy="51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9050" lIns="99050" spcFirstLastPara="1" rIns="99050" wrap="square" tIns="9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lang="es-CL" sz="2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Cristal Hinostroza</a:t>
            </a:r>
            <a:endParaRPr sz="2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Prototipo inicial de pantallas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Desarrollo módulo Gestión de Vecinos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Desarrollo módulo Proyectos Vecinales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Desarrollo módulo Actividades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Pruebas de seguridad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Corrección de errores detectados en QA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“UNIDAD TERRITORIAL”</a:t>
            </a:r>
            <a:endParaRPr/>
          </a:p>
        </p:txBody>
      </p:sp>
      <p:cxnSp>
        <p:nvCxnSpPr>
          <p:cNvPr id="112" name="Google Shape;112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3" name="Google Shape;113;p2"/>
          <p:cNvSpPr/>
          <p:nvPr/>
        </p:nvSpPr>
        <p:spPr>
          <a:xfrm>
            <a:off x="4210000" y="1163475"/>
            <a:ext cx="3703200" cy="5457000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6EA5DA"/>
              </a:gs>
              <a:gs pos="50000">
                <a:srgbClr val="529BDA"/>
              </a:gs>
              <a:gs pos="100000">
                <a:srgbClr val="4188C8"/>
              </a:gs>
            </a:gsLst>
            <a:lin ang="5400012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275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4308150" y="1252875"/>
            <a:ext cx="3407100" cy="51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9050" lIns="99050" spcFirstLastPara="1" rIns="99050" wrap="square" tIns="9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lang="es-CL" sz="2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María Saldivia</a:t>
            </a:r>
            <a:endParaRPr sz="2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Definir alcance y objetivos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Configuración de repositorio y entorno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Diseño del esquema BD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Levantamiento detallado de requerimientos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Pruebas y retroalimentación con junta de vecinos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Mantención de la BD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Desarrollo del módulo de Flujo de caja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Ajustes finales y entrega oficial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8147550" y="1163475"/>
            <a:ext cx="3703200" cy="5457000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6EA5DA"/>
              </a:gs>
              <a:gs pos="50000">
                <a:srgbClr val="529BDA"/>
              </a:gs>
              <a:gs pos="100000">
                <a:srgbClr val="4188C8"/>
              </a:gs>
            </a:gsLst>
            <a:lin ang="5400012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275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8245700" y="1252875"/>
            <a:ext cx="3237900" cy="51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9050" lIns="99050" spcFirstLastPara="1" rIns="99050" wrap="square" tIns="9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lang="es-CL" sz="2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Cecilia Vera</a:t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Selección de herramientas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Asignación </a:t>
            </a: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 roles y </a:t>
            </a: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responsabilidades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Implementación de base de datos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Módulo Certificados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Módulo Comunicación y Noticias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Módulo Requerimientos/ Buzón vecinal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just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lang="es-CL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Pruebas de usabilidad con usuarios simulados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5" name="Google Shape;125;p3"/>
          <p:cNvSpPr/>
          <p:nvPr/>
        </p:nvSpPr>
        <p:spPr>
          <a:xfrm>
            <a:off x="793559" y="2149994"/>
            <a:ext cx="43488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Las juntas de vecinos gestionan trámites de forma manual (papeles, cuadernos, planillas).</a:t>
            </a:r>
            <a:br>
              <a:rPr lang="es-CL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Esto genera desorden, pérdida de información y procesos lentos.</a:t>
            </a:r>
            <a:br>
              <a:rPr lang="es-CL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Los vecinos no cuentan con un espacio digital para realizar solicitudes o informarse.</a:t>
            </a:r>
            <a:br>
              <a:rPr lang="es-CL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La comunicación con la comunidad es limitada y poco centralizada.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Crear Sistema Unidad Territorial, una plataforma web de gestión comunitaria.</a:t>
            </a:r>
            <a:br>
              <a:rPr lang="es-CL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Permite administrar vecinos, certificados, proyectos y pagos recibidos.</a:t>
            </a:r>
            <a:br>
              <a:rPr lang="es-CL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Centraliza la información y facilita trámites desde cualquier dispositivo.</a:t>
            </a:r>
            <a:br>
              <a:rPr lang="es-CL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-32385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Mejora la organización interna y la comunicación entre junta y vecinos.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2" name="Google Shape;13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4"/>
          <p:cNvSpPr txBox="1"/>
          <p:nvPr/>
        </p:nvSpPr>
        <p:spPr>
          <a:xfrm>
            <a:off x="0" y="1384304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</a:t>
            </a: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4" name="Google Shape;134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" name="Google Shape;135;p4"/>
          <p:cNvSpPr txBox="1"/>
          <p:nvPr/>
        </p:nvSpPr>
        <p:spPr>
          <a:xfrm>
            <a:off x="1" y="394152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</a:t>
            </a: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Digitalizar y optimizar la gestión de la Junta de Vecinos Mirador de Volcanes IV mediante una plataforma web que facilite trámites, administración interna y comunicación con la comunidad.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14525" y="4588025"/>
            <a:ext cx="10962900" cy="171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módulos para gestionar vecinos, certificados, proyectos y pagos.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comunicación con los residentes mediante avisos y noticias digitales.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una interfaz accesible para usuarios no técnicos.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Asegurar trazabilidad y orden en los procesos administrativos.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Realizar pruebas y ajustes para garantizar un sistema funcional y usable.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3" name="Google Shape;1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6296375" y="1285075"/>
            <a:ext cx="5390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imitaciones del proyecto</a:t>
            </a:r>
            <a:endParaRPr/>
          </a:p>
        </p:txBody>
      </p:sp>
      <p:cxnSp>
        <p:nvCxnSpPr>
          <p:cNvPr id="146" name="Google Shape;146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7" name="Google Shape;147;p5"/>
          <p:cNvSpPr/>
          <p:nvPr/>
        </p:nvSpPr>
        <p:spPr>
          <a:xfrm>
            <a:off x="588875" y="2223896"/>
            <a:ext cx="5390400" cy="3729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30200" lvl="0" marL="457200" rtl="0" algn="just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Digitalización de procesos internos de la junta de vecinos registro de actividades, socios, certificados, finanza básica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Desarrollo y entrega de un sistema web funcional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Módulos incluidos dentro del proyecto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Proceso completo de desarrollo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Mejora de la gestión y comunicación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Seguridad</a:t>
            </a:r>
            <a:endParaRPr b="1" sz="1300">
              <a:solidFill>
                <a:schemeClr val="dk1"/>
              </a:solidFill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296375" y="2223751"/>
            <a:ext cx="5390400" cy="3729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Alcance limitado a funcionalidades definidas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Sin automatización </a:t>
            </a:r>
            <a:r>
              <a:rPr lang="es-CL" sz="1600">
                <a:solidFill>
                  <a:schemeClr val="dk1"/>
                </a:solidFill>
              </a:rPr>
              <a:t>financiera</a:t>
            </a:r>
            <a:r>
              <a:rPr lang="es-CL" sz="1600">
                <a:solidFill>
                  <a:schemeClr val="dk1"/>
                </a:solidFill>
              </a:rPr>
              <a:t> completa.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Sin integración </a:t>
            </a:r>
            <a:r>
              <a:rPr lang="es-CL" sz="1600">
                <a:solidFill>
                  <a:schemeClr val="dk1"/>
                </a:solidFill>
              </a:rPr>
              <a:t>con sistemas</a:t>
            </a:r>
            <a:r>
              <a:rPr lang="es-CL" sz="1600">
                <a:solidFill>
                  <a:schemeClr val="dk1"/>
                </a:solidFill>
              </a:rPr>
              <a:t> externos municipales o </a:t>
            </a:r>
            <a:r>
              <a:rPr lang="es-CL" sz="1600">
                <a:solidFill>
                  <a:schemeClr val="dk1"/>
                </a:solidFill>
              </a:rPr>
              <a:t>gubernamentales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Dependencia de conexión a internet para su uso.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Seguridad básica en esta versión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L" sz="1600">
                <a:solidFill>
                  <a:schemeClr val="dk1"/>
                </a:solidFill>
              </a:rPr>
              <a:t>Sin soporte post-entrega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49" name="Google Shape;149;p5"/>
          <p:cNvSpPr txBox="1"/>
          <p:nvPr/>
        </p:nvSpPr>
        <p:spPr>
          <a:xfrm>
            <a:off x="588875" y="1285075"/>
            <a:ext cx="5109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del proyecto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4" name="Google Shape;15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8" name="Google Shape;158;p6"/>
          <p:cNvSpPr/>
          <p:nvPr/>
        </p:nvSpPr>
        <p:spPr>
          <a:xfrm>
            <a:off x="614550" y="2840251"/>
            <a:ext cx="10962900" cy="302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 desarrollar el sistema "Unidad Territorial" se empleará la metodología ágil SCRUM, que permite un trabajo iterativo y colaborativo mediante ciclos cortos llamados sprints. Esto facilita entregas funcionales frecuentes, retroalimentación continua y adaptación constante a las necesidades reales de una junta de vecinos, especialmente considerando que los usuarios no son técnicos. Las actividades se gestionan con artefactos como el Product Backlog y reuniones periódicas para asegurar planificación y seguimiento efectivos.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3" name="Google Shape;16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“UNIDAD TERRITORIAL”</a:t>
            </a:r>
            <a:endParaRPr/>
          </a:p>
        </p:txBody>
      </p:sp>
      <p:sp>
        <p:nvSpPr>
          <p:cNvPr id="165" name="Google Shape;165;p7"/>
          <p:cNvSpPr txBox="1"/>
          <p:nvPr/>
        </p:nvSpPr>
        <p:spPr>
          <a:xfrm>
            <a:off x="-11" y="111733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sz="12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167" name="Google Shape;167;p7"/>
          <p:cNvGraphicFramePr/>
          <p:nvPr/>
        </p:nvGraphicFramePr>
        <p:xfrm>
          <a:off x="688671" y="20592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{F913BE3F-1782-4022-ABB6-89C072D5A6A6}</a:tableStyleId>
              </a:tblPr>
              <a:tblGrid>
                <a:gridCol w="5893400"/>
                <a:gridCol w="1465300"/>
                <a:gridCol w="1342600"/>
                <a:gridCol w="1105825"/>
                <a:gridCol w="1007550"/>
              </a:tblGrid>
              <a:tr h="269050">
                <a:tc rowSpan="2"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1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 hMerge="1"/>
                <a:tc hMerge="1"/>
                <a:tc hMerge="1"/>
              </a:tr>
              <a:tr h="30522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2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3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4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832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Definir alcances y objetivos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72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Configuración de repositorio y entorno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5700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Asignación de roles y  responsabilidades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56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Levantamiento detallado de requerimientos 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22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Consolidación</a:t>
                      </a: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los requerimientos y validación con el cliente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22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Diseño del esquema BD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200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Diseño de la arquitectura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Selección de herramientas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0150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Prototipo inicial de pantallas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Validación con la Junta de vecinos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6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2" name="Google Shape;172;g3a47a9fca96_0_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a47a9fca96_0_4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“UNIDAD TERRITORIAL”</a:t>
            </a:r>
            <a:endParaRPr/>
          </a:p>
        </p:txBody>
      </p:sp>
      <p:cxnSp>
        <p:nvCxnSpPr>
          <p:cNvPr id="174" name="Google Shape;174;g3a47a9fca96_0_48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175" name="Google Shape;175;g3a47a9fca96_0_48"/>
          <p:cNvGraphicFramePr/>
          <p:nvPr/>
        </p:nvGraphicFramePr>
        <p:xfrm>
          <a:off x="694821" y="11475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{F913BE3F-1782-4022-ABB6-89C072D5A6A6}</a:tableStyleId>
              </a:tblPr>
              <a:tblGrid>
                <a:gridCol w="4379550"/>
                <a:gridCol w="579800"/>
                <a:gridCol w="464500"/>
                <a:gridCol w="421125"/>
                <a:gridCol w="487575"/>
                <a:gridCol w="474725"/>
                <a:gridCol w="513050"/>
                <a:gridCol w="513100"/>
                <a:gridCol w="605150"/>
                <a:gridCol w="656300"/>
                <a:gridCol w="605250"/>
                <a:gridCol w="560600"/>
                <a:gridCol w="541650"/>
              </a:tblGrid>
              <a:tr h="280650">
                <a:tc rowSpan="2"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1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2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5435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5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6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7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8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9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10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11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12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13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14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15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7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16</a:t>
                      </a:r>
                      <a:endParaRPr sz="17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Implementación de la Base de Datos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Ajuste de la Base de Datos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3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Módulo Gestión de Vecinos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Módulo </a:t>
                      </a: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Certificado</a:t>
                      </a: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Residencia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Módulo  Actividades </a:t>
                      </a: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Vecinales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Módulo Comunicación y Noticias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Módulo Buzón Vecinal</a:t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 de </a:t>
                      </a:r>
                      <a:r>
                        <a:rPr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Administración y seguridad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Módulo Flujo de Caja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0" name="Google Shape;180;g3a47a9fca96_0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g3a47a9fca96_0_4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“UNIDAD TERRITORIAL”</a:t>
            </a:r>
            <a:endParaRPr/>
          </a:p>
        </p:txBody>
      </p:sp>
      <p:sp>
        <p:nvSpPr>
          <p:cNvPr id="182" name="Google Shape;182;g3a47a9fca96_0_40"/>
          <p:cNvSpPr txBox="1"/>
          <p:nvPr/>
        </p:nvSpPr>
        <p:spPr>
          <a:xfrm>
            <a:off x="1" y="115565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sz="12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g3a47a9fca96_0_40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184" name="Google Shape;184;g3a47a9fca96_0_40"/>
          <p:cNvGraphicFramePr/>
          <p:nvPr/>
        </p:nvGraphicFramePr>
        <p:xfrm>
          <a:off x="695721" y="20925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{F913BE3F-1782-4022-ABB6-89C072D5A6A6}</a:tableStyleId>
              </a:tblPr>
              <a:tblGrid>
                <a:gridCol w="5400025"/>
                <a:gridCol w="1800175"/>
                <a:gridCol w="1800175"/>
                <a:gridCol w="1800175"/>
              </a:tblGrid>
              <a:tr h="269050">
                <a:tc rowSpan="2"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6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3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E4D5"/>
                    </a:solidFill>
                  </a:tcPr>
                </a:tc>
                <a:tc hMerge="1"/>
                <a:tc hMerge="1"/>
              </a:tr>
              <a:tr h="14462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17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18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S19</a:t>
                      </a:r>
                      <a:endParaRPr b="1"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Validación con el cliente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Capacitación a usuarios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r>
                        <a:rPr lang="es-CL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Pruebas de usabilidad con clientes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Pruebas y retroalimentación del cliente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Pruebas de seguridad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Corrección</a:t>
                      </a: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errores detectados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Ajustes y entrega final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 sz="1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9" name="Google Shape;18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8"/>
          <p:cNvSpPr txBox="1"/>
          <p:nvPr/>
        </p:nvSpPr>
        <p:spPr>
          <a:xfrm>
            <a:off x="0" y="957643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</p:txBody>
      </p:sp>
      <p:cxnSp>
        <p:nvCxnSpPr>
          <p:cNvPr id="191" name="Google Shape;191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2" name="Google Shape;192;p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  <p:pic>
        <p:nvPicPr>
          <p:cNvPr id="193" name="Google Shape;193;p8" title="Diagrama de arquitectur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2900" y="1803750"/>
            <a:ext cx="8266200" cy="5000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8" name="Google Shape;1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9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200" name="Google Shape;200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1" name="Google Shape;201;p9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  <p:pic>
        <p:nvPicPr>
          <p:cNvPr id="202" name="Google Shape;202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47850" y="1587875"/>
            <a:ext cx="9437725" cy="48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7" name="Google Shape;20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209" name="Google Shape;209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0" name="Google Shape;210;p1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5" name="Google Shape;215;g3a47a9fca96_0_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g3a47a9fca96_0_89"/>
          <p:cNvSpPr txBox="1"/>
          <p:nvPr/>
        </p:nvSpPr>
        <p:spPr>
          <a:xfrm>
            <a:off x="0" y="1379743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217" name="Google Shape;217;g3a47a9fca96_0_89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8" name="Google Shape;218;g3a47a9fca96_0_89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  <p:sp>
        <p:nvSpPr>
          <p:cNvPr id="219" name="Google Shape;219;g3a47a9fca96_0_89"/>
          <p:cNvSpPr txBox="1"/>
          <p:nvPr/>
        </p:nvSpPr>
        <p:spPr>
          <a:xfrm>
            <a:off x="717700" y="2413100"/>
            <a:ext cx="5542500" cy="29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React.js</a:t>
            </a: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Biblioteca de JavaScript para construir interfaces de usuario.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 todo lo que se ve en la pantalla. Además permite que estos componentes sean interactivos.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crear una </a:t>
            </a: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Single Page Application (SPA)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Navegación sin que la página recargue por completo.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CSS: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Lenguaje para dar diseño y estilo a la página web.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a47a9fca96_0_8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63023" y="5273702"/>
            <a:ext cx="1218075" cy="1096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g3a47a9fca96_0_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936702" y="5155326"/>
            <a:ext cx="1218079" cy="1200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g3a47a9fca96_0_8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81625" y="5273700"/>
            <a:ext cx="1096275" cy="109627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g3a47a9fca96_0_89"/>
          <p:cNvSpPr txBox="1"/>
          <p:nvPr/>
        </p:nvSpPr>
        <p:spPr>
          <a:xfrm>
            <a:off x="6975475" y="2413100"/>
            <a:ext cx="4179300" cy="29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Vite: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Herramienta de desarrollo frontend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Nos da el "Fast Refresh" y luego "compila" y optimiza todo nuestro código React y CSS en archivos estáticos que un navegador puede entender.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 cambios al instante.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8" name="Google Shape;228;g3a47a9fca96_0_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3a47a9fca96_0_105"/>
          <p:cNvSpPr txBox="1"/>
          <p:nvPr/>
        </p:nvSpPr>
        <p:spPr>
          <a:xfrm>
            <a:off x="0" y="14086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230" name="Google Shape;230;g3a47a9fca96_0_105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1" name="Google Shape;231;g3a47a9fca96_0_105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  <p:pic>
        <p:nvPicPr>
          <p:cNvPr id="232" name="Google Shape;232;g3a47a9fca96_0_105"/>
          <p:cNvPicPr preferRelativeResize="0"/>
          <p:nvPr/>
        </p:nvPicPr>
        <p:blipFill rotWithShape="1">
          <a:blip r:embed="rId4">
            <a:alphaModFix/>
          </a:blip>
          <a:srcRect b="12423" l="0" r="0" t="22328"/>
          <a:stretch/>
        </p:blipFill>
        <p:spPr>
          <a:xfrm>
            <a:off x="8686532" y="2553200"/>
            <a:ext cx="2542234" cy="8293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g3a47a9fca96_0_10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86525" y="4766370"/>
            <a:ext cx="2743756" cy="78393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a47a9fca96_0_105"/>
          <p:cNvSpPr txBox="1"/>
          <p:nvPr/>
        </p:nvSpPr>
        <p:spPr>
          <a:xfrm>
            <a:off x="735475" y="2415125"/>
            <a:ext cx="7574100" cy="3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un entorno que permite ejecutar código JavaScript </a:t>
            </a:r>
            <a:r>
              <a:rPr i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fuera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del navegador (en el servidor).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 donde corre toda nuestra API. Sin Node.js, no podríamos usar Express.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Nos permite usar JavaScript en todo el proyecto. Esto simplifica el desarrollo y nos permite compartir lógica si es necesario.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Express.js</a:t>
            </a: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un framework (un conjunto de herramientas) para Node.js, diseñado para construir APIs.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Define todas las URLs, recibe las llamadas del frontend y decide qué controlador ejecutar.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 el estándar de la industria. Nos da control total sobre la lógica de la API.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9" name="Google Shape;239;g3a47a9fca96_0_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g3a47a9fca96_0_62"/>
          <p:cNvSpPr txBox="1"/>
          <p:nvPr/>
        </p:nvSpPr>
        <p:spPr>
          <a:xfrm>
            <a:off x="0" y="14086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241" name="Google Shape;241;g3a47a9fca96_0_62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2" name="Google Shape;242;g3a47a9fca96_0_62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“UNIDAD TERRITORIAL”</a:t>
            </a:r>
            <a:endParaRPr/>
          </a:p>
        </p:txBody>
      </p:sp>
      <p:pic>
        <p:nvPicPr>
          <p:cNvPr id="243" name="Google Shape;243;g3a47a9fca96_0_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12950" y="4645200"/>
            <a:ext cx="1165300" cy="116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g3a47a9fca96_0_62"/>
          <p:cNvSpPr txBox="1"/>
          <p:nvPr/>
        </p:nvSpPr>
        <p:spPr>
          <a:xfrm>
            <a:off x="711800" y="2568400"/>
            <a:ext cx="10439700" cy="3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SQL Server: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 un Sistema Gestor de Base de Datos Relacional.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Almacena toda la información del las tablas.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 robusto y nos permite garantizar la integridad de los datos. Usamos FOREIGN KEY (para que un movimiento siempre esté ligado a un usuario) y UNIQUE INDEX (para que un vecino no se registre dos veces en el mismo proyecto).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49" name="Google Shape;24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55" name="Google Shape;25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  <p:sp>
        <p:nvSpPr>
          <p:cNvPr id="257" name="Google Shape;257;p12"/>
          <p:cNvSpPr txBox="1"/>
          <p:nvPr/>
        </p:nvSpPr>
        <p:spPr>
          <a:xfrm>
            <a:off x="1958250" y="2568400"/>
            <a:ext cx="8275500" cy="3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resultados del proyecto han sido positivos y pudimos validar la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importancia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 impacto que podría generar a nivel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municipal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este proyecto.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62" name="Google Shape;26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3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  <p:sp>
        <p:nvSpPr>
          <p:cNvPr id="264" name="Google Shape;264;p13"/>
          <p:cNvSpPr txBox="1"/>
          <p:nvPr/>
        </p:nvSpPr>
        <p:spPr>
          <a:xfrm>
            <a:off x="711800" y="2568400"/>
            <a:ext cx="10439700" cy="3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Trabajar con clientes reales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onexión a la base de datos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es-CL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Conexiones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69" name="Google Shape;26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